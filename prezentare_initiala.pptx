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A33D-BAC1-4041-896B-F01EDEEC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3F7FB9-207D-BFD2-C63F-D3501D28A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FD209-0BCB-ACF2-8F01-BEAD3906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026FB-BC4F-E4CB-BD7D-9B51FA08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E37F-8A6C-D244-E1EE-464B67E8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9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B55D-6D4B-43DB-72C5-89586808C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FB97E-6A18-9DB8-58A8-2E32E5C0D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62278-474F-0798-26A9-956B14A5F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82D78F-01D7-3E4F-6975-EC9B3FCD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74F9D-FD68-7CE3-7D96-25FA8D23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34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6F15A-5638-BBC6-9087-F8E9D7FDA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18571-6F55-7937-E2C4-286357E00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167FF-1585-664D-6010-1FBA200B6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97C9-FA48-4FFD-C384-655066011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BE903-CA2C-97FD-0B5C-507534A1E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0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418B-3973-D241-8B56-AAA0F7F53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ACDF-2DB1-7945-CA12-C58DFA5FFD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5E0F77-064B-6BB3-1C2A-695C5EB1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EC2C60-6FBC-C547-3E56-4CA44D90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F5D890-0CF9-D1BD-0326-57B6E897D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1F867-89B1-DED0-22A6-02D4AC77E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2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37D96-BDDE-7457-9406-71CD9A50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1A89F-711B-A360-8065-4ECFA1E35C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0E185-169E-E697-88BD-5358F01E6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2ADCD-0583-AB2D-41F8-66EB4245A2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A9824F-878E-E9CD-666E-9AAEF547F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FBC3C-09F6-BCF9-257B-970C7D95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07EDB3-0ED7-6155-D620-F4211703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DB63D9-A2D8-F3C0-28AD-C95E0820F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042DD-E062-C63F-8135-778D97034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050E4-B434-0C7F-5E6E-899CA6F57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357451-80DC-B3E1-6FC7-86758BEC4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CF143-4861-EF3A-7450-259F1D37B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2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79022-4301-7B67-A68A-20258B808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6D0435-60FD-50DE-1A3E-EDA57781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4A91E-C165-3B05-1918-045B3BE4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BB1A-3F04-23C6-77A6-7FE7BE4A3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45DD-92E0-96D7-7C46-9BF214DA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C6E02-341C-23B3-C08B-D1B7C9534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E5CAE0-3347-4116-0F07-6CE010B1B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3A33D-EE3B-FD0B-02A9-24B6E941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D62AE-EF86-D4A2-6D20-11F264CE2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6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47429-D450-3781-8166-176282FB0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94A91-E549-3010-D7EC-4E4C73E7C3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C4E13-4001-20D3-A1D4-E625EEDA7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C5CEDF-98E9-754C-BB65-90C3B5F49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6FFFF-E35F-D393-7787-36475130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87540-47FD-9A75-F9CF-C641937FF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83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FA4D-D177-A7AC-5B85-DDBADD98A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E4BE4-9525-B40C-2C5F-312A11C029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9473D-B63C-31BF-B6E0-C54D1E11E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5B40B-91FF-FE0F-D2A2-986D8D084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8A6C8-DF56-4A5F-74BF-02780C25A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9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C7C9BC-6EE3-B44F-AB86-C146BD9A7D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6E61C8-B9CB-2F36-EBC3-1F4324813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A38BD-CEDA-C844-475B-048DDA9C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92D17-C4D2-FD75-CF72-52F3D684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5525-C579-EA01-6986-B107DE78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0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3DA579-84F8-9F37-84D2-47B5FD8B2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C8EE6-F595-B351-2C2D-15F3D8325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3321E-C479-BF35-0534-8E47823D3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62F3A-D7F9-4C98-A1DD-4513DDD69FAE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9215A-D1A4-F9E6-7108-2F609866B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7844C-2CF6-4195-E724-4A758FE9D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03A0B7-3D59-4806-B5A8-AF8B23FE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9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C25C4-9D56-9FDE-5B48-F40A9BA30D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39987"/>
          </a:xfrm>
        </p:spPr>
        <p:txBody>
          <a:bodyPr>
            <a:normAutofit/>
          </a:bodyPr>
          <a:lstStyle/>
          <a:p>
            <a:r>
              <a:rPr lang="en-US" sz="4400" b="1" dirty="0" err="1"/>
              <a:t>WAIz</a:t>
            </a:r>
            <a:r>
              <a:rPr lang="en-US" sz="4400" b="1" dirty="0"/>
              <a:t> - LLM-powered Hypermedia connected agents forming experience-sharing communities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513D9-BBF8-7A1F-9C82-70A4B2E268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2588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Student</a:t>
            </a:r>
            <a:r>
              <a:rPr lang="en-US"/>
              <a:t>: Andrei-Cătălin </a:t>
            </a:r>
            <a:r>
              <a:rPr lang="en-US" dirty="0"/>
              <a:t>Barbu</a:t>
            </a:r>
          </a:p>
          <a:p>
            <a:pPr algn="l"/>
            <a:r>
              <a:rPr lang="en-US" dirty="0" err="1"/>
              <a:t>Coordonator</a:t>
            </a:r>
            <a:r>
              <a:rPr lang="en-US" dirty="0"/>
              <a:t>: Andrei Olaru</a:t>
            </a:r>
          </a:p>
        </p:txBody>
      </p:sp>
      <p:pic>
        <p:nvPicPr>
          <p:cNvPr id="2050" name="Picture 2" descr="Sigle [Wiki-ul Departamentului de Calculatoare]">
            <a:extLst>
              <a:ext uri="{FF2B5EF4-FFF2-40B4-BE49-F238E27FC236}">
                <a16:creationId xmlns:a16="http://schemas.microsoft.com/office/drawing/2014/main" id="{F04C98A6-3595-DBB7-D311-5D1E5FAB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886" y="5323685"/>
            <a:ext cx="1044228" cy="1049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821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E76A763-8C9D-38B6-A84B-2E21CC6E3F11}"/>
              </a:ext>
            </a:extLst>
          </p:cNvPr>
          <p:cNvSpPr/>
          <p:nvPr/>
        </p:nvSpPr>
        <p:spPr>
          <a:xfrm>
            <a:off x="4059303" y="2176272"/>
            <a:ext cx="4087368" cy="41422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256740A-E22C-26B9-4C21-C04268E9A063}"/>
              </a:ext>
            </a:extLst>
          </p:cNvPr>
          <p:cNvSpPr/>
          <p:nvPr/>
        </p:nvSpPr>
        <p:spPr>
          <a:xfrm>
            <a:off x="838200" y="2176272"/>
            <a:ext cx="2965704" cy="41422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CB1DE-C012-B89B-8335-305CED6BA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Problema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D4BBA-D8FB-BAFC-AF4B-07EAA0C06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03" y="1299396"/>
            <a:ext cx="10515600" cy="5223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Interacțiunea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cu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mediul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ar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trebui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fie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realizată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prin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cerințe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62853B-A32E-2EFA-B3F4-3F3CAF714865}"/>
              </a:ext>
            </a:extLst>
          </p:cNvPr>
          <p:cNvSpPr txBox="1"/>
          <p:nvPr/>
        </p:nvSpPr>
        <p:spPr>
          <a:xfrm>
            <a:off x="1180797" y="2296565"/>
            <a:ext cx="22805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Varietate</a:t>
            </a:r>
            <a:r>
              <a:rPr lang="en-US" dirty="0"/>
              <a:t> de </a:t>
            </a:r>
            <a:r>
              <a:rPr lang="en-US" dirty="0" err="1"/>
              <a:t>dispozitive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lipsa</a:t>
            </a:r>
            <a:r>
              <a:rPr lang="en-US" dirty="0"/>
              <a:t> </a:t>
            </a:r>
            <a:r>
              <a:rPr lang="en-US" dirty="0" err="1"/>
              <a:t>specificațiilor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469471-00CE-378E-57D7-C140FEF1B968}"/>
              </a:ext>
            </a:extLst>
          </p:cNvPr>
          <p:cNvSpPr txBox="1"/>
          <p:nvPr/>
        </p:nvSpPr>
        <p:spPr>
          <a:xfrm>
            <a:off x="4734241" y="2296565"/>
            <a:ext cx="273749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Dificultatea</a:t>
            </a:r>
            <a:r>
              <a:rPr lang="en-US" dirty="0"/>
              <a:t> de a </a:t>
            </a:r>
            <a:r>
              <a:rPr lang="en-US" dirty="0" err="1"/>
              <a:t>înțelege</a:t>
            </a:r>
            <a:r>
              <a:rPr lang="en-US" dirty="0"/>
              <a:t> </a:t>
            </a:r>
            <a:r>
              <a:rPr lang="en-US" dirty="0" err="1"/>
              <a:t>cerințele</a:t>
            </a:r>
            <a:r>
              <a:rPr lang="en-US" dirty="0"/>
              <a:t> sub-</a:t>
            </a:r>
            <a:r>
              <a:rPr lang="en-US" dirty="0" err="1"/>
              <a:t>detaliate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planifica</a:t>
            </a:r>
            <a:r>
              <a:rPr lang="en-US" dirty="0"/>
              <a:t> </a:t>
            </a:r>
            <a:r>
              <a:rPr lang="en-US" dirty="0" err="1"/>
              <a:t>acțiunile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07BB75B-B1D7-99F4-3EF3-2CC24DCA54C8}"/>
              </a:ext>
            </a:extLst>
          </p:cNvPr>
          <p:cNvGrpSpPr/>
          <p:nvPr/>
        </p:nvGrpSpPr>
        <p:grpSpPr>
          <a:xfrm>
            <a:off x="4238560" y="3648294"/>
            <a:ext cx="3714879" cy="1748576"/>
            <a:chOff x="646176" y="3573195"/>
            <a:chExt cx="3714879" cy="1649431"/>
          </a:xfrm>
        </p:grpSpPr>
        <p:pic>
          <p:nvPicPr>
            <p:cNvPr id="34" name="Picture 4" descr="User - Free social icons">
              <a:extLst>
                <a:ext uri="{FF2B5EF4-FFF2-40B4-BE49-F238E27FC236}">
                  <a16:creationId xmlns:a16="http://schemas.microsoft.com/office/drawing/2014/main" id="{4BDD2591-6EEE-FF9C-4085-6B39E45F3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8936" y="4454530"/>
              <a:ext cx="768096" cy="768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Thought Bubble: Cloud 34">
              <a:extLst>
                <a:ext uri="{FF2B5EF4-FFF2-40B4-BE49-F238E27FC236}">
                  <a16:creationId xmlns:a16="http://schemas.microsoft.com/office/drawing/2014/main" id="{52CF80BA-CF07-06F1-A317-21FC271739B5}"/>
                </a:ext>
              </a:extLst>
            </p:cNvPr>
            <p:cNvSpPr/>
            <p:nvPr/>
          </p:nvSpPr>
          <p:spPr>
            <a:xfrm>
              <a:off x="2788287" y="3573195"/>
              <a:ext cx="1572768" cy="768096"/>
            </a:xfrm>
            <a:prstGeom prst="cloud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 err="1">
                  <a:solidFill>
                    <a:schemeClr val="tx1"/>
                  </a:solidFill>
                </a:rPr>
                <a:t>Pregătește</a:t>
              </a:r>
              <a:r>
                <a:rPr lang="en-US" sz="1200" dirty="0">
                  <a:solidFill>
                    <a:schemeClr val="tx1"/>
                  </a:solidFill>
                </a:rPr>
                <a:t> camera </a:t>
              </a:r>
              <a:r>
                <a:rPr lang="en-US" sz="1200" dirty="0" err="1">
                  <a:solidFill>
                    <a:schemeClr val="tx1"/>
                  </a:solidFill>
                </a:rPr>
                <a:t>pentru</a:t>
              </a:r>
              <a:r>
                <a:rPr lang="en-US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 err="1">
                  <a:solidFill>
                    <a:schemeClr val="tx1"/>
                  </a:solidFill>
                </a:rPr>
                <a:t>citit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Thought Bubble: Cloud 35">
              <a:extLst>
                <a:ext uri="{FF2B5EF4-FFF2-40B4-BE49-F238E27FC236}">
                  <a16:creationId xmlns:a16="http://schemas.microsoft.com/office/drawing/2014/main" id="{B29BFE7B-EA09-AD9A-2948-F2B79136B5F9}"/>
                </a:ext>
              </a:extLst>
            </p:cNvPr>
            <p:cNvSpPr/>
            <p:nvPr/>
          </p:nvSpPr>
          <p:spPr>
            <a:xfrm flipH="1">
              <a:off x="646176" y="3573195"/>
              <a:ext cx="1572768" cy="768096"/>
            </a:xfrm>
            <a:prstGeom prst="cloudCallou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 cam frig </a:t>
              </a:r>
              <a:r>
                <a:rPr lang="en-US" sz="1200" dirty="0" err="1">
                  <a:solidFill>
                    <a:schemeClr val="tx1"/>
                  </a:solidFill>
                </a:rPr>
                <a:t>aici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0" name="Picture 39" descr="A black and white image of a house and icons&#10;&#10;AI-generated content may be incorrect.">
            <a:extLst>
              <a:ext uri="{FF2B5EF4-FFF2-40B4-BE49-F238E27FC236}">
                <a16:creationId xmlns:a16="http://schemas.microsoft.com/office/drawing/2014/main" id="{465D3784-3FB3-98A8-6007-EBDDEB92CB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61" y="3127169"/>
            <a:ext cx="3048000" cy="2790825"/>
          </a:xfrm>
          <a:prstGeom prst="rect">
            <a:avLst/>
          </a:prstGeom>
        </p:spPr>
      </p:pic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5BF0DBAA-CA45-8B53-7E44-CFB200E8827A}"/>
              </a:ext>
            </a:extLst>
          </p:cNvPr>
          <p:cNvSpPr/>
          <p:nvPr/>
        </p:nvSpPr>
        <p:spPr>
          <a:xfrm>
            <a:off x="8388096" y="2176272"/>
            <a:ext cx="2965704" cy="414223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8FE068-DC1E-E546-CB88-4E30842BF26D}"/>
              </a:ext>
            </a:extLst>
          </p:cNvPr>
          <p:cNvSpPr txBox="1"/>
          <p:nvPr/>
        </p:nvSpPr>
        <p:spPr>
          <a:xfrm>
            <a:off x="8508393" y="2296565"/>
            <a:ext cx="27251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Distribuirea</a:t>
            </a:r>
            <a:r>
              <a:rPr lang="en-US" dirty="0"/>
              <a:t> de </a:t>
            </a:r>
            <a:r>
              <a:rPr lang="en-US" dirty="0" err="1"/>
              <a:t>cunoștințe</a:t>
            </a:r>
            <a:r>
              <a:rPr lang="en-US" dirty="0"/>
              <a:t> </a:t>
            </a:r>
            <a:r>
              <a:rPr lang="en-US" dirty="0" err="1"/>
              <a:t>între</a:t>
            </a:r>
            <a:r>
              <a:rPr lang="en-US" dirty="0"/>
              <a:t> </a:t>
            </a:r>
            <a:r>
              <a:rPr lang="en-US" dirty="0" err="1"/>
              <a:t>agenți</a:t>
            </a:r>
            <a:endParaRPr lang="en-US" dirty="0"/>
          </a:p>
          <a:p>
            <a:pPr algn="ctr"/>
            <a:endParaRPr lang="en-US" dirty="0"/>
          </a:p>
        </p:txBody>
      </p:sp>
      <p:pic>
        <p:nvPicPr>
          <p:cNvPr id="45" name="Graphic 44" descr="Users with solid fill">
            <a:extLst>
              <a:ext uri="{FF2B5EF4-FFF2-40B4-BE49-F238E27FC236}">
                <a16:creationId xmlns:a16="http://schemas.microsoft.com/office/drawing/2014/main" id="{3DB9DD10-FA58-142C-9B18-B0D72CE957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8547" y="3330181"/>
            <a:ext cx="2384802" cy="238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75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520B-118F-9C5B-7FDD-720B5C986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Metode </a:t>
            </a:r>
            <a:r>
              <a:rPr lang="en-US" b="1" dirty="0" err="1"/>
              <a:t>analizate</a:t>
            </a:r>
            <a:endParaRPr lang="en-US" b="1" dirty="0"/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4B15B740-5241-9709-77F6-6CE10B01E241}"/>
              </a:ext>
            </a:extLst>
          </p:cNvPr>
          <p:cNvSpPr/>
          <p:nvPr/>
        </p:nvSpPr>
        <p:spPr>
          <a:xfrm>
            <a:off x="838200" y="1448086"/>
            <a:ext cx="7665720" cy="1980914"/>
          </a:xfrm>
          <a:prstGeom prst="snip2Diag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/>
              <a:t>IFTTT</a:t>
            </a:r>
            <a:r>
              <a:rPr lang="en-US" sz="1400" dirty="0"/>
              <a:t>[1]</a:t>
            </a:r>
          </a:p>
          <a:p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Combină</a:t>
            </a:r>
            <a:r>
              <a:rPr lang="en-US" dirty="0"/>
              <a:t> </a:t>
            </a:r>
            <a:r>
              <a:rPr lang="en-US" dirty="0" err="1"/>
              <a:t>capabilitățile</a:t>
            </a:r>
            <a:r>
              <a:rPr lang="en-US" dirty="0"/>
              <a:t> </a:t>
            </a:r>
            <a:r>
              <a:rPr lang="en-US" dirty="0" err="1"/>
              <a:t>dispozitivelor</a:t>
            </a:r>
            <a:r>
              <a:rPr lang="en-US" dirty="0"/>
              <a:t> cu reguli if-else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automatizări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 err="1"/>
              <a:t>Integrează</a:t>
            </a:r>
            <a:r>
              <a:rPr lang="en-US" dirty="0"/>
              <a:t> chatbot-</a:t>
            </a:r>
            <a:r>
              <a:rPr lang="en-US" dirty="0" err="1"/>
              <a:t>uri</a:t>
            </a:r>
            <a:r>
              <a:rPr lang="en-US" dirty="0"/>
              <a:t> ca </a:t>
            </a:r>
            <a:r>
              <a:rPr lang="en-US" dirty="0" err="1"/>
              <a:t>serviciu</a:t>
            </a:r>
            <a:r>
              <a:rPr lang="en-US" dirty="0"/>
              <a:t> de input/output</a:t>
            </a:r>
          </a:p>
          <a:p>
            <a:r>
              <a:rPr lang="en-US" dirty="0"/>
              <a:t>      Nu pot genera </a:t>
            </a:r>
            <a:r>
              <a:rPr lang="en-US" dirty="0" err="1"/>
              <a:t>logică</a:t>
            </a:r>
            <a:r>
              <a:rPr lang="en-US" dirty="0"/>
              <a:t> </a:t>
            </a:r>
            <a:r>
              <a:rPr lang="en-US" dirty="0" err="1"/>
              <a:t>complexă</a:t>
            </a:r>
            <a:r>
              <a:rPr lang="en-US" dirty="0"/>
              <a:t> cu AI</a:t>
            </a:r>
          </a:p>
        </p:txBody>
      </p:sp>
      <p:pic>
        <p:nvPicPr>
          <p:cNvPr id="11" name="Graphic 10" descr="Thumbs up sign with solid fill">
            <a:extLst>
              <a:ext uri="{FF2B5EF4-FFF2-40B4-BE49-F238E27FC236}">
                <a16:creationId xmlns:a16="http://schemas.microsoft.com/office/drawing/2014/main" id="{62C89A16-277F-FCB1-D86B-4B0E8A0E5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364" y="2264331"/>
            <a:ext cx="320040" cy="320040"/>
          </a:xfrm>
          <a:prstGeom prst="rect">
            <a:avLst/>
          </a:prstGeom>
        </p:spPr>
      </p:pic>
      <p:pic>
        <p:nvPicPr>
          <p:cNvPr id="12" name="Graphic 11" descr="Thumbs up sign with solid fill">
            <a:extLst>
              <a:ext uri="{FF2B5EF4-FFF2-40B4-BE49-F238E27FC236}">
                <a16:creationId xmlns:a16="http://schemas.microsoft.com/office/drawing/2014/main" id="{28A12B66-F9B1-D842-76CF-60EA47670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7364" y="2546128"/>
            <a:ext cx="320040" cy="320040"/>
          </a:xfrm>
          <a:prstGeom prst="rect">
            <a:avLst/>
          </a:prstGeom>
        </p:spPr>
      </p:pic>
      <p:pic>
        <p:nvPicPr>
          <p:cNvPr id="14" name="Graphic 13" descr="Thumbs Down with solid fill">
            <a:extLst>
              <a:ext uri="{FF2B5EF4-FFF2-40B4-BE49-F238E27FC236}">
                <a16:creationId xmlns:a16="http://schemas.microsoft.com/office/drawing/2014/main" id="{F4544E44-124D-123C-4088-9B1F58780F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7364" y="2866168"/>
            <a:ext cx="320040" cy="32004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826B086-2423-09C6-013E-306734CB4A09}"/>
              </a:ext>
            </a:extLst>
          </p:cNvPr>
          <p:cNvGrpSpPr/>
          <p:nvPr/>
        </p:nvGrpSpPr>
        <p:grpSpPr>
          <a:xfrm>
            <a:off x="4203192" y="3920506"/>
            <a:ext cx="7665720" cy="1980914"/>
            <a:chOff x="3688080" y="4112530"/>
            <a:chExt cx="7665720" cy="1980914"/>
          </a:xfrm>
        </p:grpSpPr>
        <p:sp>
          <p:nvSpPr>
            <p:cNvPr id="15" name="Rectangle: Diagonal Corners Snipped 14">
              <a:extLst>
                <a:ext uri="{FF2B5EF4-FFF2-40B4-BE49-F238E27FC236}">
                  <a16:creationId xmlns:a16="http://schemas.microsoft.com/office/drawing/2014/main" id="{04694A89-2A32-D25B-FEE1-08A2397D0D16}"/>
                </a:ext>
              </a:extLst>
            </p:cNvPr>
            <p:cNvSpPr/>
            <p:nvPr/>
          </p:nvSpPr>
          <p:spPr>
            <a:xfrm>
              <a:off x="3688080" y="4112530"/>
              <a:ext cx="7665720" cy="1980914"/>
            </a:xfrm>
            <a:prstGeom prst="snip2Diag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2400" b="1" dirty="0" err="1"/>
                <a:t>LLMind</a:t>
              </a:r>
              <a:r>
                <a:rPr lang="en-US" sz="1400" dirty="0"/>
                <a:t>[2]</a:t>
              </a:r>
            </a:p>
            <a:p>
              <a:endParaRPr lang="en-US" dirty="0"/>
            </a:p>
            <a:p>
              <a:r>
                <a:rPr lang="en-US" dirty="0"/>
                <a:t>      </a:t>
              </a:r>
              <a:r>
                <a:rPr lang="en-US" dirty="0" err="1"/>
                <a:t>Agenți</a:t>
              </a:r>
              <a:r>
                <a:rPr lang="en-US" dirty="0"/>
                <a:t> AI </a:t>
              </a:r>
              <a:r>
                <a:rPr lang="en-US" dirty="0" err="1"/>
                <a:t>bazați</a:t>
              </a:r>
              <a:r>
                <a:rPr lang="en-US" dirty="0"/>
                <a:t> pe LLMs care </a:t>
              </a:r>
              <a:r>
                <a:rPr lang="en-US" dirty="0" err="1"/>
                <a:t>colaborează</a:t>
              </a:r>
              <a:endParaRPr lang="en-US" dirty="0"/>
            </a:p>
            <a:p>
              <a:r>
                <a:rPr lang="en-US" dirty="0"/>
                <a:t>      </a:t>
              </a:r>
              <a:r>
                <a:rPr lang="en-US" dirty="0" err="1"/>
                <a:t>Folosesc</a:t>
              </a:r>
              <a:r>
                <a:rPr lang="en-US" dirty="0"/>
                <a:t> </a:t>
              </a:r>
              <a:r>
                <a:rPr lang="en-US" dirty="0" err="1"/>
                <a:t>experiența</a:t>
              </a:r>
              <a:r>
                <a:rPr lang="en-US" dirty="0"/>
                <a:t> </a:t>
              </a:r>
              <a:r>
                <a:rPr lang="en-US" dirty="0" err="1"/>
                <a:t>locală</a:t>
              </a:r>
              <a:endParaRPr lang="en-US" dirty="0"/>
            </a:p>
          </p:txBody>
        </p:sp>
        <p:pic>
          <p:nvPicPr>
            <p:cNvPr id="16" name="Graphic 15" descr="Thumbs up sign with solid fill">
              <a:extLst>
                <a:ext uri="{FF2B5EF4-FFF2-40B4-BE49-F238E27FC236}">
                  <a16:creationId xmlns:a16="http://schemas.microsoft.com/office/drawing/2014/main" id="{A1FA22ED-D0A9-C898-A419-6CF31676B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66388" y="5117894"/>
              <a:ext cx="320040" cy="320040"/>
            </a:xfrm>
            <a:prstGeom prst="rect">
              <a:avLst/>
            </a:prstGeom>
          </p:spPr>
        </p:pic>
        <p:pic>
          <p:nvPicPr>
            <p:cNvPr id="17" name="Graphic 16" descr="Thumbs Down with solid fill">
              <a:extLst>
                <a:ext uri="{FF2B5EF4-FFF2-40B4-BE49-F238E27FC236}">
                  <a16:creationId xmlns:a16="http://schemas.microsoft.com/office/drawing/2014/main" id="{5BACDBED-D2DB-42A3-9AA4-CE6479B8C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67912" y="5451174"/>
              <a:ext cx="320040" cy="3200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3747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EA1551-62FD-3AC3-FF1E-DBBBD6C6A69E}"/>
              </a:ext>
            </a:extLst>
          </p:cNvPr>
          <p:cNvSpPr/>
          <p:nvPr/>
        </p:nvSpPr>
        <p:spPr>
          <a:xfrm>
            <a:off x="4034028" y="2514600"/>
            <a:ext cx="4123944" cy="914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D42E5B-3B40-6945-3B77-9E3856A7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/>
              <a:t>Direcții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cercetare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921B7-F067-CA8F-8CBB-FE82BD4AF82B}"/>
              </a:ext>
            </a:extLst>
          </p:cNvPr>
          <p:cNvSpPr txBox="1"/>
          <p:nvPr/>
        </p:nvSpPr>
        <p:spPr>
          <a:xfrm>
            <a:off x="4227195" y="2505670"/>
            <a:ext cx="373761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Abstractizarea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interacțiunii</a:t>
            </a:r>
            <a:r>
              <a:rPr lang="en-US" dirty="0">
                <a:solidFill>
                  <a:sysClr val="windowText" lastClr="000000"/>
                </a:solidFill>
              </a:rPr>
              <a:t> cu LLMs, </a:t>
            </a:r>
            <a:r>
              <a:rPr lang="en-US" dirty="0" err="1">
                <a:solidFill>
                  <a:sysClr val="windowText" lastClr="000000"/>
                </a:solidFill>
              </a:rPr>
              <a:t>integrarea</a:t>
            </a:r>
            <a:r>
              <a:rPr lang="en-US" dirty="0">
                <a:solidFill>
                  <a:sysClr val="windowText" lastClr="000000"/>
                </a:solidFill>
              </a:rPr>
              <a:t> a </a:t>
            </a:r>
            <a:r>
              <a:rPr lang="en-US" dirty="0" err="1">
                <a:solidFill>
                  <a:sysClr val="windowText" lastClr="000000"/>
                </a:solidFill>
              </a:rPr>
              <a:t>unui</a:t>
            </a:r>
            <a:r>
              <a:rPr lang="en-US" dirty="0">
                <a:solidFill>
                  <a:sysClr val="windowText" lastClr="000000"/>
                </a:solidFill>
              </a:rPr>
              <a:t> LLM general-purpose local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7DDC80-85CE-6637-0A13-BA8EDE36F739}"/>
              </a:ext>
            </a:extLst>
          </p:cNvPr>
          <p:cNvGrpSpPr/>
          <p:nvPr/>
        </p:nvGrpSpPr>
        <p:grpSpPr>
          <a:xfrm>
            <a:off x="1783080" y="4590288"/>
            <a:ext cx="3310128" cy="766370"/>
            <a:chOff x="1783080" y="4590288"/>
            <a:chExt cx="3310128" cy="76637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70834F7-6C32-E1DC-F99C-FDDFCF673789}"/>
                </a:ext>
              </a:extLst>
            </p:cNvPr>
            <p:cNvSpPr/>
            <p:nvPr/>
          </p:nvSpPr>
          <p:spPr>
            <a:xfrm>
              <a:off x="1783080" y="4590288"/>
              <a:ext cx="3310128" cy="76637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064F49-80C3-7898-9180-3CBEF89ECC13}"/>
                </a:ext>
              </a:extLst>
            </p:cNvPr>
            <p:cNvSpPr txBox="1"/>
            <p:nvPr/>
          </p:nvSpPr>
          <p:spPr>
            <a:xfrm>
              <a:off x="1783080" y="4650307"/>
              <a:ext cx="3310128" cy="64633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dirty="0" err="1">
                  <a:solidFill>
                    <a:sysClr val="windowText" lastClr="000000"/>
                  </a:solidFill>
                </a:rPr>
                <a:t>Proiectarea</a:t>
              </a: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r>
                <a:rPr lang="en-US" dirty="0" err="1">
                  <a:solidFill>
                    <a:sysClr val="windowText" lastClr="000000"/>
                  </a:solidFill>
                </a:rPr>
                <a:t>comportamentului</a:t>
              </a: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r>
                <a:rPr lang="en-US" dirty="0" err="1">
                  <a:solidFill>
                    <a:sysClr val="windowText" lastClr="000000"/>
                  </a:solidFill>
                </a:rPr>
                <a:t>agenților</a:t>
              </a:r>
              <a:endParaRPr lang="en-US" dirty="0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5A29499-A5A5-2331-6092-494218336B96}"/>
              </a:ext>
            </a:extLst>
          </p:cNvPr>
          <p:cNvGrpSpPr/>
          <p:nvPr/>
        </p:nvGrpSpPr>
        <p:grpSpPr>
          <a:xfrm>
            <a:off x="7098794" y="4590288"/>
            <a:ext cx="3310128" cy="766370"/>
            <a:chOff x="7356348" y="4590288"/>
            <a:chExt cx="3310128" cy="76637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B95713D-7EA4-A63E-CB9A-80DD30952DF0}"/>
                </a:ext>
              </a:extLst>
            </p:cNvPr>
            <p:cNvSpPr/>
            <p:nvPr/>
          </p:nvSpPr>
          <p:spPr>
            <a:xfrm>
              <a:off x="7356348" y="4590288"/>
              <a:ext cx="3310128" cy="76637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F13AFC7-B15A-519B-4A13-3CA9D0AF518D}"/>
                </a:ext>
              </a:extLst>
            </p:cNvPr>
            <p:cNvSpPr txBox="1"/>
            <p:nvPr/>
          </p:nvSpPr>
          <p:spPr>
            <a:xfrm>
              <a:off x="7532370" y="4650307"/>
              <a:ext cx="2958084" cy="64633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dirty="0" err="1">
                  <a:solidFill>
                    <a:sysClr val="windowText" lastClr="000000"/>
                  </a:solidFill>
                </a:rPr>
                <a:t>Implementarea</a:t>
              </a:r>
              <a:r>
                <a:rPr lang="en-US" dirty="0">
                  <a:solidFill>
                    <a:sysClr val="windowText" lastClr="000000"/>
                  </a:solidFill>
                </a:rPr>
                <a:t> </a:t>
              </a:r>
              <a:r>
                <a:rPr lang="en-US" dirty="0" err="1">
                  <a:solidFill>
                    <a:sysClr val="windowText" lastClr="000000"/>
                  </a:solidFill>
                </a:rPr>
                <a:t>scenariului</a:t>
              </a:r>
              <a:r>
                <a:rPr lang="en-US" dirty="0">
                  <a:solidFill>
                    <a:sysClr val="windowText" lastClr="000000"/>
                  </a:solidFill>
                </a:rPr>
                <a:t> mock-up</a:t>
              </a:r>
            </a:p>
          </p:txBody>
        </p:sp>
      </p:grp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09DFB1E-E7CA-C57D-167D-996F0A23495D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rot="5400000">
            <a:off x="4186428" y="2680716"/>
            <a:ext cx="1161288" cy="265785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51426CD-ABBA-D034-7387-820B6A6F7AC2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 rot="16200000" flipH="1">
            <a:off x="6844285" y="2680715"/>
            <a:ext cx="1161288" cy="26578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308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29DCF-7D88-F698-EB4C-85FF2D7A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BFCE5-C42C-B904-42C4-3E95EF23D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[1] If-this-than-that home automation service, https://ifttt.com/, 2025. Accessed: 2025-06-07.</a:t>
            </a:r>
          </a:p>
          <a:p>
            <a:pPr marL="0" indent="0">
              <a:buNone/>
            </a:pPr>
            <a:r>
              <a:rPr lang="en-US" sz="2400" dirty="0"/>
              <a:t>[2] H. Cui, Y. Du, Q. Yang, Y. Shao, S. C. Liew, </a:t>
            </a:r>
            <a:r>
              <a:rPr lang="en-US" sz="2400" dirty="0" err="1"/>
              <a:t>Llmind</a:t>
            </a:r>
            <a:r>
              <a:rPr lang="en-US" sz="2400" dirty="0"/>
              <a:t>: Orchestrating ai and </a:t>
            </a:r>
            <a:r>
              <a:rPr lang="en-US" sz="2400" dirty="0" err="1"/>
              <a:t>iot</a:t>
            </a:r>
            <a:r>
              <a:rPr lang="en-US" sz="2400" dirty="0"/>
              <a:t> with </a:t>
            </a:r>
            <a:r>
              <a:rPr lang="en-US" sz="2400" dirty="0" err="1"/>
              <a:t>llm</a:t>
            </a:r>
            <a:r>
              <a:rPr lang="en-US" sz="2400" dirty="0"/>
              <a:t> for complex task execution, IEEE Communications Magazine (2024).</a:t>
            </a:r>
          </a:p>
        </p:txBody>
      </p:sp>
    </p:spTree>
    <p:extLst>
      <p:ext uri="{BB962C8B-B14F-4D97-AF65-F5344CB8AC3E}">
        <p14:creationId xmlns:p14="http://schemas.microsoft.com/office/powerpoint/2010/main" val="1483394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190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WAIz - LLM-powered Hypermedia connected agents forming experience-sharing communities</vt:lpstr>
      <vt:lpstr>Problema</vt:lpstr>
      <vt:lpstr>Metode analizate</vt:lpstr>
      <vt:lpstr>Direcții pentru cercetare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Andrei-Cătălin BARBU (124252)</dc:creator>
  <cp:lastModifiedBy>Andrei-Cătălin BARBU (124252)</cp:lastModifiedBy>
  <cp:revision>2</cp:revision>
  <dcterms:created xsi:type="dcterms:W3CDTF">2025-11-06T10:38:39Z</dcterms:created>
  <dcterms:modified xsi:type="dcterms:W3CDTF">2025-11-06T12:59:50Z</dcterms:modified>
</cp:coreProperties>
</file>